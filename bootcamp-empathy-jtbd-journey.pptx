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audience: show of hands. Then move to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reveal: the problem isn't the UI style — it's that no one asked what job the user is actually trying to complete. Transition: so how do we figure out the job?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persona isn't a made-up character. It's a synthesis of patterns seen across multiple real users. The goal is to be specific enough to make design decisions against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people don't switch products for features. They switch when the current solution stops making progress on the job. That switch moment is the design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power of persona + JTBD together. Point out that PSEG built these from real customer research — interviews, call center recordings, field observations. Not guesswork.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around the room during this. Listen for statements that are too feature-y ('I want to click a button') vs. true outcome statements. Share 2-3 good and bad examples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distinction: SAYS vs THINKS is critical. People don't reveal their real mental model in interviews. DOES is observable; FEELS drives behavior. The map lives at ONE touchpoint, not the whole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Notice: the map reveals what no survey would. Carol isn't upset about the high bill — she's resigned to it. The opportunity is in reducing the cognitive load of the investigation step she doesn't have time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 toward disagreement in the room — some people feel embarrassed (social dimension), some feel violated, some feel resigned. That variance is the data. The map is a tool for surfacing it, not resolving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JTBD insight here: people 'fire' a product not when it fails to complete the task, but when it stops feeling like progress. Anxiety = design failure. Relief = design success.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tasks can be reframed as a journey. The user knows where they are, what they've accomplished, and what's ahead. That structure reduces anxiety and increases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row. Emphasize that the Opportunities row is the product team's output — everything above is research, everything in Opportunities is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moment on this slide is stage 3: Dave's frustration about the app is documented verbatim. That quote became a product opportunity. Journey maps transform complaints into design briefs.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insight of the PSEG work. Same product, same event, two completely different design needs. A single outage notification flow cannot serve both jobs. This is why personas + JTBD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domain model with the journey in mind. User → Family → Playbook → Workflow → Phase → Activity → Artifact is a direct reflection of how Mike and Maria think about their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slide for the methodology. The traceability chain is how you defend design decisions. 'Why does this screen exist?' — because of this journey moment, which exists because of this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bold border = entry point convention. This is the screen users arrive at from the navigation. All other screens in the group flow FROM here. grep -r FOB-PLAYBOOKS-LIST+FIND-1 . finds every file in the codebase related to this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integration exercise. Walks from empathy map → journey stage → screen design. The best sketches will reveal something that the group didn't expect. The entry point question usually generates the most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thesis. The chain is the methodology. Every step reinforces the one before it. The traceability chain isn't bureaucracy — it's the record of your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loop. They started this session not being able to articulate why the UIs were wrong. Now they can. That's the value of the methodology.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is better?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building a task management app for deep knowledge workers. Choose your UI.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4846320" cy="411480"/>
          </a:xfrm>
          <a:prstGeom prst="roundRect">
            <a:avLst>
              <a:gd name="adj" fmla="val 22222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562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Manager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2331720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3774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00200" y="2331720"/>
            <a:ext cx="3767328" cy="420624"/>
          </a:xfrm>
          <a:prstGeom prst="roundRect">
            <a:avLst>
              <a:gd name="adj" fmla="val 21739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208" y="2404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Standup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843784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8950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00200" y="2843784"/>
            <a:ext cx="3767328" cy="420624"/>
          </a:xfrm>
          <a:prstGeom prst="roundRect">
            <a:avLst>
              <a:gd name="adj" fmla="val 2173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9169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3355848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015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00200" y="3355848"/>
            <a:ext cx="3767328" cy="420624"/>
          </a:xfrm>
          <a:prstGeom prst="roundRect">
            <a:avLst>
              <a:gd name="adj" fmla="val 21739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64208" y="3429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" y="3867912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9136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600200" y="3867912"/>
            <a:ext cx="3767328" cy="420624"/>
          </a:xfrm>
          <a:prstGeom prst="roundRect">
            <a:avLst>
              <a:gd name="adj" fmla="val 21739"/>
            </a:avLst>
          </a:prstGeom>
          <a:solidFill>
            <a:srgbClr val="1E5C18"/>
          </a:solidFill>
          <a:ln w="12700">
            <a:solidFill>
              <a:srgbClr val="1E5C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64208" y="39410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Lunch 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" y="4379976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42569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00200" y="4379976"/>
            <a:ext cx="3767328" cy="420624"/>
          </a:xfrm>
          <a:prstGeom prst="roundRect">
            <a:avLst>
              <a:gd name="adj" fmla="val 21739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64208" y="44531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Meeting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" y="4892040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9377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00200" y="4892040"/>
            <a:ext cx="3767328" cy="420624"/>
          </a:xfrm>
          <a:prstGeom prst="roundRect">
            <a:avLst>
              <a:gd name="adj" fmla="val 2173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64208" y="4965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3232" y="5404104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54498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" y="6126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3703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675120" y="1828800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1828800"/>
            <a:ext cx="4846320" cy="411480"/>
          </a:xfrm>
          <a:prstGeom prst="roundRect">
            <a:avLst>
              <a:gd name="adj" fmla="val 22222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84848" y="18562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12280" y="2450592"/>
            <a:ext cx="237744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50608" y="24323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Q3 report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12280" y="2962656"/>
            <a:ext cx="237744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2962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50608" y="29443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login bug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12280" y="3474720"/>
            <a:ext cx="237744" cy="237744"/>
          </a:xfrm>
          <a:prstGeom prst="rect">
            <a:avLst/>
          </a:prstGeom>
          <a:solidFill>
            <a:srgbClr val="263380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50608" y="345643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 #142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12280" y="3986784"/>
            <a:ext cx="237744" cy="237744"/>
          </a:xfrm>
          <a:prstGeom prst="rect">
            <a:avLst/>
          </a:prstGeom>
          <a:solidFill>
            <a:srgbClr val="263380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50608" y="39684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docs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12280" y="4498848"/>
            <a:ext cx="237744" cy="237744"/>
          </a:xfrm>
          <a:prstGeom prst="rect">
            <a:avLst/>
          </a:prstGeom>
          <a:solidFill>
            <a:srgbClr val="263380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50608" y="44805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1:1 prep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12280" y="5010912"/>
            <a:ext cx="237744" cy="237744"/>
          </a:xfrm>
          <a:prstGeom prst="rect">
            <a:avLst/>
          </a:prstGeom>
          <a:solidFill>
            <a:srgbClr val="263380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0608" y="499262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staging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12280" y="5522976"/>
            <a:ext cx="237744" cy="237744"/>
          </a:xfrm>
          <a:prstGeom prst="rect">
            <a:avLst/>
          </a:prstGeom>
          <a:solidFill>
            <a:srgbClr val="263380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50608" y="55046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email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75120" y="6126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Neither.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10515600" cy="1920240"/>
          </a:xfrm>
          <a:prstGeom prst="roundRect">
            <a:avLst>
              <a:gd name="adj" fmla="val 4762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8308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job to be done: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2176272"/>
            <a:ext cx="10058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want to ride my ultradian rhythms — use gamma focus to create the plan, run 2–3 beta execution cycles, and inside each cycle know when to trigger an alpha recovery break."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UI addresses: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42416" y="429768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42611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cognitive demand per task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42416" y="475488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47183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ultradian slot fits which task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42416" y="5212080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51755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signal: time for an alpha break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7947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4251960"/>
            <a:ext cx="5212080" cy="475488"/>
          </a:xfrm>
          <a:prstGeom prst="roundRect">
            <a:avLst>
              <a:gd name="adj" fmla="val 19231"/>
            </a:avLst>
          </a:prstGeom>
          <a:solidFill>
            <a:srgbClr val="1A2E6A"/>
          </a:solidFill>
          <a:ln w="12700">
            <a:solidFill>
              <a:srgbClr val="1A2E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93992" y="4352544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42793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person &amp; their job first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4818888"/>
            <a:ext cx="5212080" cy="475488"/>
          </a:xfrm>
          <a:prstGeom prst="roundRect">
            <a:avLst>
              <a:gd name="adj" fmla="val 19231"/>
            </a:avLst>
          </a:prstGeom>
          <a:solidFill>
            <a:srgbClr val="1A2E6A"/>
          </a:solidFill>
          <a:ln w="12700">
            <a:solidFill>
              <a:srgbClr val="1A2E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93992" y="4919472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0608" y="4846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emotions and moments of struggle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5385816"/>
            <a:ext cx="5212080" cy="475488"/>
          </a:xfrm>
          <a:prstGeom prst="roundRect">
            <a:avLst>
              <a:gd name="adj" fmla="val 19231"/>
            </a:avLst>
          </a:prstGeom>
          <a:solidFill>
            <a:srgbClr val="1A2E6A"/>
          </a:solidFill>
          <a:ln w="12700">
            <a:solidFill>
              <a:srgbClr val="1A2E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93992" y="5486400"/>
            <a:ext cx="274320" cy="2743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54132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insights to journey to screen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the Person, Not the Feature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 is a composite portrait of a real user type — built from research, not imagination.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577840" cy="45720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727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103120"/>
            <a:ext cx="5230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frustrates them right now? What slows them down or causes stress in doing this job?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50876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508760"/>
            <a:ext cx="557784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727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103120"/>
            <a:ext cx="5230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success look like? What outcome would make them feel the job is truly done?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023360"/>
            <a:ext cx="557784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0873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" y="4617720"/>
            <a:ext cx="5230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they using today? Why does it fall short? This is your real competition.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402336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4023360"/>
            <a:ext cx="5577840" cy="457200"/>
          </a:xfrm>
          <a:prstGeom prst="roundRect">
            <a:avLst>
              <a:gd name="adj" fmla="val 20000"/>
            </a:avLst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40873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 Enough"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9672" y="4617720"/>
            <a:ext cx="52303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a satisfactory solution look like — not perfect, but good enough to hire over the workaround?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 To Be Done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buy products. They hire them to make progress on a job.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74520" y="1600200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6002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[situation]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69080" y="1508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I want to 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49240" y="1600200"/>
            <a:ext cx="2286000" cy="621792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60020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[motivation]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26680" y="15087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so I can 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3960" y="1600200"/>
            <a:ext cx="2651760" cy="621792"/>
          </a:xfrm>
          <a:prstGeom prst="roundRect">
            <a:avLst>
              <a:gd name="adj" fmla="val 14706"/>
            </a:avLst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160020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[outcome]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3657600" cy="3611880"/>
          </a:xfrm>
          <a:prstGeom prst="roundRect">
            <a:avLst>
              <a:gd name="adj" fmla="val 253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06040"/>
            <a:ext cx="3657600" cy="438912"/>
          </a:xfrm>
          <a:prstGeom prst="roundRect">
            <a:avLst>
              <a:gd name="adj" fmla="val 2083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651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31546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task: get the bill paid, manage the schedule, restore power.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Measurable, observable, often what features address.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0" y="2606040"/>
            <a:ext cx="3657600" cy="3611880"/>
          </a:xfrm>
          <a:prstGeom prst="roundRect">
            <a:avLst>
              <a:gd name="adj" fmla="val 253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2606040"/>
            <a:ext cx="3657600" cy="438912"/>
          </a:xfrm>
          <a:prstGeom prst="roundRect">
            <a:avLst>
              <a:gd name="adj" fmla="val 208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651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31546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want to feel during and after: in control, confident, not anxious.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what actually drives the hire/fire decision.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21040" y="2606040"/>
            <a:ext cx="3657600" cy="3611880"/>
          </a:xfrm>
          <a:prstGeom prst="roundRect">
            <a:avLst>
              <a:gd name="adj" fmla="val 253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2606040"/>
            <a:ext cx="3657600" cy="438912"/>
          </a:xfrm>
          <a:prstGeom prst="roundRect">
            <a:avLst>
              <a:gd name="adj" fmla="val 20833"/>
            </a:avLst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2651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58200" y="31546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want to be perceived by others: competent parent, tech-savvy professional.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invisible in product specs.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6400800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428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'struggling moment' — when the current solution fails — is the signal that a job exists and is available to be captured.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Personas, Same Events, Completely Different Jobs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PSEG Residential Customers — same utility, same bill, same power outage. Watch how the job diverges.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148840" cy="5120640"/>
          </a:xfrm>
          <a:prstGeom prst="roundRect">
            <a:avLst>
              <a:gd name="adj" fmla="val 425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148840" cy="438912"/>
          </a:xfrm>
          <a:prstGeom prst="roundRect">
            <a:avLst>
              <a:gd name="adj" fmla="val 20833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996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High-Tech Adopter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103120"/>
            <a:ext cx="18105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isn't there an app?"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job: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59359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digitally, get data, fix it fast.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70048" y="1463040"/>
            <a:ext cx="2148840" cy="5120640"/>
          </a:xfrm>
          <a:prstGeom prst="roundRect">
            <a:avLst>
              <a:gd name="adj" fmla="val 425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0048" y="1463040"/>
            <a:ext cx="2148840" cy="438912"/>
          </a:xfrm>
          <a:prstGeom prst="roundRect">
            <a:avLst>
              <a:gd name="adj" fmla="val 2083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14996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61488" y="1764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Mother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61488" y="2029968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103120"/>
            <a:ext cx="18105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"Help! Can you tell me if I'm out?"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61488" y="33375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job: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61488" y="359359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Reassurance first. Family safety. Fast answers.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74336" y="1463040"/>
            <a:ext cx="2148840" cy="5120640"/>
          </a:xfrm>
          <a:prstGeom prst="roundRect">
            <a:avLst>
              <a:gd name="adj" fmla="val 425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74336" y="1463040"/>
            <a:ext cx="2148840" cy="438912"/>
          </a:xfrm>
          <a:prstGeom prst="roundRect">
            <a:avLst>
              <a:gd name="adj" fmla="val 20833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14996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65776" y="1764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Complainer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65776" y="2029968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2103120"/>
            <a:ext cx="18105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am I out? I want a refund!"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65776" y="33375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job: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65776" y="359359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acknowledged. Escalate until heard.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78624" y="1463040"/>
            <a:ext cx="2148840" cy="5120640"/>
          </a:xfrm>
          <a:prstGeom prst="roundRect">
            <a:avLst>
              <a:gd name="adj" fmla="val 425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78624" y="1463040"/>
            <a:ext cx="2148840" cy="438912"/>
          </a:xfrm>
          <a:prstGeom prst="roundRect">
            <a:avLst>
              <a:gd name="adj" fmla="val 20833"/>
            </a:avLst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70064" y="14996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70064" y="1764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Traditionalist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70064" y="2029968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43216" y="2103120"/>
            <a:ext cx="18105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just call them."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70064" y="33375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job: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70064" y="359359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Phone-first, expects human contact, low trust in digital.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582912" y="1463040"/>
            <a:ext cx="2148840" cy="5120640"/>
          </a:xfrm>
          <a:prstGeom prst="roundRect">
            <a:avLst>
              <a:gd name="adj" fmla="val 425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82912" y="1463040"/>
            <a:ext cx="2148840" cy="438912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74352" y="14996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674352" y="1764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of Circum.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674352" y="2029968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47504" y="2103120"/>
            <a:ext cx="181051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am I going to pay for this?"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74352" y="33375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job: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674352" y="359359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anxiety overrides all other concerns.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product. Same event. Five different jobs. One UI cannot serve them all the same way.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Exercise: Write a JTBD Statement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minutes  |  Pairs  |  Share back 2 examples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2704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20240" y="1645920"/>
            <a:ext cx="2834640" cy="658368"/>
          </a:xfrm>
          <a:prstGeom prst="roundRect">
            <a:avLst>
              <a:gd name="adj" fmla="val 13889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6459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[situation / trigger]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52704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I want to 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6459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[motivation]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0" y="15270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 can 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829800" y="1645920"/>
            <a:ext cx="2103120" cy="658368"/>
          </a:xfrm>
          <a:prstGeom prst="roundRect">
            <a:avLst>
              <a:gd name="adj" fmla="val 13889"/>
            </a:avLst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29800" y="16459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[outcome]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scenario you know well: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192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Pickup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72160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ordered online, you're in the parking lot...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324612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33192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phones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372160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got a new device and need to transfer everything...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28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credit card bill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52303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from a trip, the bill just landed...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475488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4828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overload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52303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Sunday, you open your calendar and feel dread...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the best JTBD statements feel slightly obvious once written — that's how you know they're right.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Empathy Map: Inside One Moment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 tells you who. An empathy map reveals what's happening inside them at a specific touchpoint.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623560" cy="2578608"/>
          </a:xfrm>
          <a:prstGeom prst="roundRect">
            <a:avLst>
              <a:gd name="adj" fmla="val 3546"/>
            </a:avLst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623560" cy="402336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179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" y="206654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002536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quotes from interviews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" y="268833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624328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just want it to work"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" y="331012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246120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"Nobody told me I had to..."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463040"/>
            <a:ext cx="5623560" cy="2578608"/>
          </a:xfrm>
          <a:prstGeom prst="roundRect">
            <a:avLst>
              <a:gd name="adj" fmla="val 354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463040"/>
            <a:ext cx="5623560" cy="402336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5179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10528" y="2066544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2002536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believe but won't say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10528" y="2688336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2624328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Doubts, assumptions, worries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10528" y="3310128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2552" y="3246120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probably my fault"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5623560" cy="2578608"/>
          </a:xfrm>
          <a:prstGeom prst="roundRect">
            <a:avLst>
              <a:gd name="adj" fmla="val 3546"/>
            </a:avLst>
          </a:prstGeom>
          <a:solidFill>
            <a:srgbClr val="F3EFF8"/>
          </a:solidFill>
          <a:ln w="12700">
            <a:solidFill>
              <a:srgbClr val="F3EF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60520"/>
            <a:ext cx="5623560" cy="402336"/>
          </a:xfrm>
          <a:prstGeom prst="roundRect">
            <a:avLst>
              <a:gd name="adj" fmla="val 22727"/>
            </a:avLst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2153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4088" y="4764024"/>
            <a:ext cx="109728" cy="109728"/>
          </a:xfrm>
          <a:prstGeom prst="ellipse">
            <a:avLst/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4700016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behaviors at this moment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4088" y="5385816"/>
            <a:ext cx="109728" cy="109728"/>
          </a:xfrm>
          <a:prstGeom prst="ellipse">
            <a:avLst/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5321808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Clicks, calls, searches, waits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4088" y="6007608"/>
            <a:ext cx="109728" cy="109728"/>
          </a:xfrm>
          <a:prstGeom prst="ellipse">
            <a:avLst/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5943600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Workarounds they use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4160520"/>
            <a:ext cx="5623560" cy="2578608"/>
          </a:xfrm>
          <a:prstGeom prst="roundRect">
            <a:avLst>
              <a:gd name="adj" fmla="val 3546"/>
            </a:avLst>
          </a:prstGeom>
          <a:solidFill>
            <a:srgbClr val="FEF0F0"/>
          </a:solidFill>
          <a:ln w="12700">
            <a:solidFill>
              <a:srgbClr val="FEF0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4160520"/>
            <a:ext cx="5623560" cy="402336"/>
          </a:xfrm>
          <a:prstGeom prst="roundRect">
            <a:avLst>
              <a:gd name="adj" fmla="val 2272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2153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510528" y="4764024"/>
            <a:ext cx="109728" cy="1097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02552" y="4700016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state (not what they say)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10528" y="5385816"/>
            <a:ext cx="109728" cy="1097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02552" y="5321808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Frustrated, anxious, relieved, proud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10528" y="6007608"/>
            <a:ext cx="109728" cy="1097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02552" y="5943600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 that drives the next action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623560" y="3310128"/>
            <a:ext cx="9144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331012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Carol Receives a High Bill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Carol, Young Mother — touchpoint: paper bill arrives in US mail while she's managing kids.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623560" cy="2578608"/>
          </a:xfrm>
          <a:prstGeom prst="roundRect">
            <a:avLst>
              <a:gd name="adj" fmla="val 3546"/>
            </a:avLst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623560" cy="402336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179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" y="206654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002536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deal with it later..."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" y="272491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660904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"Puts it in the pile"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" y="338328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319272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"Oh, it was really hot out!"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463040"/>
            <a:ext cx="5623560" cy="2578608"/>
          </a:xfrm>
          <a:prstGeom prst="roundRect">
            <a:avLst>
              <a:gd name="adj" fmla="val 354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463040"/>
            <a:ext cx="5623560" cy="402336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5179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10528" y="2066544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2002536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did we do last month?"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10528" y="272491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2660904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have time for this now"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10528" y="338328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2552" y="3319272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was the A/C — makes sense"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5623560" cy="2578608"/>
          </a:xfrm>
          <a:prstGeom prst="roundRect">
            <a:avLst>
              <a:gd name="adj" fmla="val 3546"/>
            </a:avLst>
          </a:prstGeom>
          <a:solidFill>
            <a:srgbClr val="F3EFF8"/>
          </a:solidFill>
          <a:ln w="12700">
            <a:solidFill>
              <a:srgbClr val="F3EF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60520"/>
            <a:ext cx="5623560" cy="402336"/>
          </a:xfrm>
          <a:prstGeom prst="roundRect">
            <a:avLst>
              <a:gd name="adj" fmla="val 22727"/>
            </a:avLst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2153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4088" y="4764024"/>
            <a:ext cx="109728" cy="109728"/>
          </a:xfrm>
          <a:prstGeom prst="ellipse">
            <a:avLst/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4700016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amount &amp; due date only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4088" y="5422392"/>
            <a:ext cx="109728" cy="109728"/>
          </a:xfrm>
          <a:prstGeom prst="ellipse">
            <a:avLst/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5358384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bill into the bill pile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04088" y="6080760"/>
            <a:ext cx="109728" cy="109728"/>
          </a:xfrm>
          <a:prstGeom prst="ellipse">
            <a:avLst/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6016752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via bank website on bill day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63640" y="4160520"/>
            <a:ext cx="5623560" cy="2578608"/>
          </a:xfrm>
          <a:prstGeom prst="roundRect">
            <a:avLst>
              <a:gd name="adj" fmla="val 3546"/>
            </a:avLst>
          </a:prstGeom>
          <a:solidFill>
            <a:srgbClr val="FEF0F0"/>
          </a:solidFill>
          <a:ln w="12700">
            <a:solidFill>
              <a:srgbClr val="FEF0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4160520"/>
            <a:ext cx="5623560" cy="402336"/>
          </a:xfrm>
          <a:prstGeom prst="roundRect">
            <a:avLst>
              <a:gd name="adj" fmla="val 2272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2153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510528" y="4764024"/>
            <a:ext cx="109728" cy="1097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02552" y="4700016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Low-grade anxiety (not panic)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10528" y="5422392"/>
            <a:ext cx="109728" cy="1097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02552" y="5358384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Relieved when she finds the cause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10528" y="6080760"/>
            <a:ext cx="109728" cy="1097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02552" y="6016752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 to prevent it — too busy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623560" y="3310128"/>
            <a:ext cx="9144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331012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6492240"/>
            <a:ext cx="11247120" cy="310896"/>
          </a:xfrm>
          <a:prstGeom prst="roundRect">
            <a:avLst>
              <a:gd name="adj" fmla="val 29412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6519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signal: she feels relief when she finds a cause. Opportunity → proactively show cause with the bill. She won't search — give it to her.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Exercise: Group Empathy Map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 |  Whole group  |  Facilitator captures on whiteboard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804672"/>
          </a:xfrm>
          <a:prstGeom prst="roundRect">
            <a:avLst>
              <a:gd name="adj" fmla="val 11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150876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got a surprise subscription charge on your credit card for a service you forgot you signed up for.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623560" cy="2029968"/>
          </a:xfrm>
          <a:prstGeom prst="roundRect">
            <a:avLst>
              <a:gd name="adj" fmla="val 4505"/>
            </a:avLst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23160"/>
            <a:ext cx="562356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780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953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do you say out loud when you see the charge?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478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Who do you say it to?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2423160"/>
            <a:ext cx="5623560" cy="2029968"/>
          </a:xfrm>
          <a:prstGeom prst="roundRect">
            <a:avLst>
              <a:gd name="adj" fmla="val 450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423160"/>
            <a:ext cx="5623560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4780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2953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What's going through your head?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35478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do you blame / question?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5623560" cy="2029968"/>
          </a:xfrm>
          <a:prstGeom prst="roundRect">
            <a:avLst>
              <a:gd name="adj" fmla="val 4505"/>
            </a:avLst>
          </a:prstGeom>
          <a:solidFill>
            <a:srgbClr val="F3EFF8"/>
          </a:solidFill>
          <a:ln w="12700">
            <a:solidFill>
              <a:srgbClr val="F3EF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663440"/>
            <a:ext cx="5623560" cy="384048"/>
          </a:xfrm>
          <a:prstGeom prst="roundRect">
            <a:avLst>
              <a:gd name="adj" fmla="val 23810"/>
            </a:avLst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7183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19379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are your first 3 actions?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7881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do you search for or open?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663440"/>
            <a:ext cx="5623560" cy="2029968"/>
          </a:xfrm>
          <a:prstGeom prst="roundRect">
            <a:avLst>
              <a:gd name="adj" fmla="val 4505"/>
            </a:avLst>
          </a:prstGeom>
          <a:solidFill>
            <a:srgbClr val="FEF0F0"/>
          </a:solidFill>
          <a:ln w="12700">
            <a:solidFill>
              <a:srgbClr val="FEF0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4663440"/>
            <a:ext cx="5623560" cy="384048"/>
          </a:xfrm>
          <a:prstGeom prst="roundRect">
            <a:avLst>
              <a:gd name="adj" fmla="val 2381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7183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519379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Frustrated? Embarrassed? Resigned?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57881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How does it change once you act?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23560" y="3657600"/>
            <a:ext cx="9144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365760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Job Isn't Done Until It Feels Done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jobs are stressful. Good design makes progress visible — the journey itself should feel like winning.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874520"/>
            <a:ext cx="868680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  <a:tailEnd type="open"/>
          </a:ln>
        </p:spPr>
      </p:sp>
      <p:sp>
        <p:nvSpPr>
          <p:cNvPr id="8" name="Text 6"/>
          <p:cNvSpPr/>
          <p:nvPr/>
        </p:nvSpPr>
        <p:spPr>
          <a:xfrm>
            <a:off x="10835640" y="15544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54096" y="1728216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481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43016" y="1728216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481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31936" y="1728216"/>
            <a:ext cx="292608" cy="29260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481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551176"/>
            <a:ext cx="475488" cy="47548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2551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1089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Visibility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822192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stage of the journey explicitly. Users need to know where they are and how far they've come.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PSEG example: Receipt → Cognizance → Resolution → Prevention gives the customer a map, not just a moment.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70832" y="233172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551176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2551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07992" y="31089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Completion Signals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07992" y="3822192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each step as it's completed, even if the job isn't fully done. Silence after an action creates anxiety.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bill-paid confirmation that also shows usage comparison vs. last month.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84464" y="233172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5632" y="2551176"/>
            <a:ext cx="475488" cy="475488"/>
          </a:xfrm>
          <a:prstGeom prst="ellipse">
            <a:avLst/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2551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21624" y="31089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That Confirms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Movement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21624" y="3822192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loop: show the user that their action changed something. 'You've enrolled in Balanced Billing — your next bill will be predictable.'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the Progress, Not Just the Task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03520" cy="5486400"/>
          </a:xfrm>
          <a:prstGeom prst="roundRect">
            <a:avLst>
              <a:gd name="adj" fmla="val 1724"/>
            </a:avLst>
          </a:prstGeom>
          <a:solidFill>
            <a:srgbClr val="FEF0F0"/>
          </a:solidFill>
          <a:ln w="12700">
            <a:solidFill>
              <a:srgbClr val="FEF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5303520" cy="402336"/>
          </a:xfrm>
          <a:prstGeom prst="roundRect">
            <a:avLst>
              <a:gd name="adj" fmla="val 22727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1521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Flat task list — no progress signal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493776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Fix login bug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493776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219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Write Q3 report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493776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5234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Review PR #142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55264"/>
            <a:ext cx="493776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826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Update documentation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85616"/>
            <a:ext cx="493776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130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Team 1:1 prep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15968"/>
            <a:ext cx="493776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3434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Deploy staging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846320"/>
            <a:ext cx="493776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8737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Client email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76672"/>
            <a:ext cx="493776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40410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Code review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59618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am I in the job? No idea. Am I making progress? Can't tell.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097280"/>
            <a:ext cx="5394960" cy="5486400"/>
          </a:xfrm>
          <a:prstGeom prst="roundRect">
            <a:avLst>
              <a:gd name="adj" fmla="val 1695"/>
            </a:avLst>
          </a:prstGeom>
          <a:solidFill>
            <a:srgbClr val="EEF8F0"/>
          </a:solidFill>
          <a:ln w="12700">
            <a:solidFill>
              <a:srgbClr val="EEF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097280"/>
            <a:ext cx="5394960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11521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Journey with named stages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73952" y="1627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Emotion: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37960" y="1883664"/>
            <a:ext cx="1078992" cy="73152"/>
          </a:xfrm>
          <a:prstGeom prst="roundRect">
            <a:avLst>
              <a:gd name="adj" fmla="val 125000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1810512"/>
            <a:ext cx="1078992" cy="146304"/>
          </a:xfrm>
          <a:prstGeom prst="roundRect">
            <a:avLst>
              <a:gd name="adj" fmla="val 62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1719072"/>
            <a:ext cx="1078992" cy="237744"/>
          </a:xfrm>
          <a:prstGeom prst="roundRect">
            <a:avLst>
              <a:gd name="adj" fmla="val 3846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78440" y="1645920"/>
            <a:ext cx="1078992" cy="310896"/>
          </a:xfrm>
          <a:prstGeom prst="roundRect">
            <a:avLst>
              <a:gd name="adj" fmla="val 29412"/>
            </a:avLst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73952" y="210312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73952" y="2103120"/>
            <a:ext cx="73152" cy="914400"/>
          </a:xfrm>
          <a:prstGeom prst="roundRect">
            <a:avLst>
              <a:gd name="adj" fmla="val 125000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21579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Receipt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29400" y="25420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arrives → you know it's high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29400" y="2724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73952" y="315468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73952" y="3154680"/>
            <a:ext cx="73152" cy="914400"/>
          </a:xfrm>
          <a:prstGeom prst="roundRect">
            <a:avLst>
              <a:gd name="adj" fmla="val 1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32095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Cognizance &amp; Reasoning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29400" y="35935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→ understand why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29400" y="37764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73952" y="42062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E8F4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73952" y="4206240"/>
            <a:ext cx="73152" cy="914400"/>
          </a:xfrm>
          <a:prstGeom prst="roundRect">
            <a:avLst>
              <a:gd name="adj" fmla="val 1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42611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Resolution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29400" y="46451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→ job is done for now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29400" y="4828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You are here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73952" y="52578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73952" y="5257800"/>
            <a:ext cx="73152" cy="914400"/>
          </a:xfrm>
          <a:prstGeom prst="roundRect">
            <a:avLst>
              <a:gd name="adj" fmla="val 125000"/>
            </a:avLst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531266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Prevention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629400" y="56967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to avoid it happening again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User Journey 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map is the emotional arc of getting a job done — not a feature list, not a process flow.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1463040"/>
            <a:ext cx="9509760" cy="82296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1536192"/>
            <a:ext cx="9235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phases of the experience: Receipt · Cognizance · Resolution · Prevention. Each stage has a distinct user mindset.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9572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TOUCHPOINTS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2395728"/>
            <a:ext cx="9509760" cy="82296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2468880"/>
            <a:ext cx="9235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user actually interacts at each stage: paper bill, mobile site, phone call, Google search, bank app.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28416"/>
            <a:ext cx="1645920" cy="594360"/>
          </a:xfrm>
          <a:prstGeom prst="roundRect">
            <a:avLst>
              <a:gd name="adj" fmla="val 1538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2841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3328416"/>
            <a:ext cx="9509760" cy="594360"/>
          </a:xfrm>
          <a:prstGeom prst="roundRect">
            <a:avLst>
              <a:gd name="adj" fmla="val 1538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9152" y="3401568"/>
            <a:ext cx="9235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emotional arc — a curve showing anxiety, relief, frustration. This is where design opportunities hide.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32504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3250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4032504"/>
            <a:ext cx="9509760" cy="82296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9152" y="4105656"/>
            <a:ext cx="9235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thinks and feels at each stage. The internal state that drives the next action.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965192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6519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94560" y="4965192"/>
            <a:ext cx="9509760" cy="82296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5038344"/>
            <a:ext cx="9235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actually does: investigates, calls, pays, Googles. The observable behaviors.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89788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897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94560" y="5897880"/>
            <a:ext cx="9509760" cy="82296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59152" y="5971032"/>
            <a:ext cx="9235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product can intervene — proactive alerts, better explanations, faster paths, trust signals.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Dave Receives a High Bill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Dave, High-Tech Adopter — 4-stage linear journey. Watch where the emotion dips and what's missing.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743200" cy="5074920"/>
          </a:xfrm>
          <a:prstGeom prst="roundRect">
            <a:avLst>
              <a:gd name="adj" fmla="val 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996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RECEIPT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TOUCHPOINT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PSEG Mobile + Text Alert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33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8163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my bill so high?!"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3467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35295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 shock then curiosity. Will investigate further.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4709160"/>
            <a:ext cx="259689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74573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792" y="4937760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% change alert with prior month comparison.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1463040"/>
            <a:ext cx="2743200" cy="5074920"/>
          </a:xfrm>
          <a:prstGeom prst="roundRect">
            <a:avLst>
              <a:gd name="adj" fmla="val 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146304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4996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COGNIZANCE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1920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TOUCHPOINT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74720" y="21031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PSEG Website (My Account)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2633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74720" y="28163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did I do last month?"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33467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0" y="35295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is understood — the concept clicks for Dave.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56432" y="4709160"/>
            <a:ext cx="259689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474573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47872" y="4937760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alerts with weather correlation already included.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1463040"/>
            <a:ext cx="2743200" cy="5074920"/>
          </a:xfrm>
          <a:prstGeom prst="roundRect">
            <a:avLst>
              <a:gd name="adj" fmla="val 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146304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4996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RESOLUTION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1920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TOUCHPOINT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0" y="21031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App → PSEG Mobile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2633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00800" y="28163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isn't there an app?!"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3467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00800" y="35295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at paying, but frustration — no native app.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82512" y="4709160"/>
            <a:ext cx="259689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474573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73952" y="4937760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app. This quote directly spawned the product idea.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235440" y="1463040"/>
            <a:ext cx="2743200" cy="5074920"/>
          </a:xfrm>
          <a:prstGeom prst="roundRect">
            <a:avLst>
              <a:gd name="adj" fmla="val 3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35440" y="146304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0" y="14996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PREVENTION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326880" y="1920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TOUCHPOINT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326880" y="21031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+ Amazon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326880" y="2633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326880" y="28163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research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26880" y="33467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326880" y="35295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Relieved — takes control of the problem.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308592" y="4709160"/>
            <a:ext cx="259689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00032" y="474573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400032" y="4937760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PSEG could own this moment: usage tips + product recs.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6400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arc: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828800" y="6679875"/>
            <a:ext cx="2240280" cy="68397"/>
          </a:xfrm>
          <a:prstGeom prst="roundRect">
            <a:avLst>
              <a:gd name="adj" fmla="val 133690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0" y="674827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434840" y="6599042"/>
            <a:ext cx="2240280" cy="149230"/>
          </a:xfrm>
          <a:prstGeom prst="roundRect">
            <a:avLst>
              <a:gd name="adj" fmla="val 6127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34840" y="674827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040880" y="6555516"/>
            <a:ext cx="2240280" cy="192756"/>
          </a:xfrm>
          <a:prstGeom prst="roundRect">
            <a:avLst>
              <a:gd name="adj" fmla="val 4743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40880" y="674827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MED+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646920" y="6474684"/>
            <a:ext cx="2240280" cy="273588"/>
          </a:xfrm>
          <a:prstGeom prst="roundRect">
            <a:avLst>
              <a:gd name="adj" fmla="val 33423"/>
            </a:avLst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46920" y="674827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Event, Different Job: Power Outage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 and Carol both lose power. The event is identical. The job — and the design — could not be more different.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49240" cy="5166360"/>
          </a:xfrm>
          <a:prstGeom prst="roundRect">
            <a:avLst>
              <a:gd name="adj" fmla="val 177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349240" cy="402336"/>
          </a:xfrm>
          <a:prstGeom prst="roundRect">
            <a:avLst>
              <a:gd name="adj" fmla="val 2272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996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  —  High-Tech Adopter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99339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"What's going on? Let me check Twitter."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4088" y="2761488"/>
            <a:ext cx="146304" cy="146304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066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Awareness: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7066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Twitter immediately — social first.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" y="3419856"/>
            <a:ext cx="146304" cy="146304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649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Reporting: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3649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outage via SMS to PSEG.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" y="4078224"/>
            <a:ext cx="146304" cy="146304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Restoration: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4023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ETR + cause via SMS. Waits.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" y="4736592"/>
            <a:ext cx="146304" cy="146304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681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Sky: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46817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restoration confirmation.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5486400"/>
            <a:ext cx="5074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5412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job: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5779008"/>
            <a:ext cx="4773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information fast. Self-serve. Don't make me call."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1463040"/>
            <a:ext cx="5349240" cy="5166360"/>
          </a:xfrm>
          <a:prstGeom prst="roundRect">
            <a:avLst>
              <a:gd name="adj" fmla="val 1770"/>
            </a:avLst>
          </a:prstGeom>
          <a:solidFill>
            <a:srgbClr val="FEF0F0"/>
          </a:solidFill>
          <a:ln w="12700">
            <a:solidFill>
              <a:srgbClr val="FEF0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1463040"/>
            <a:ext cx="5349240" cy="402336"/>
          </a:xfrm>
          <a:prstGeom prst="roundRect">
            <a:avLst>
              <a:gd name="adj" fmla="val 2272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14996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 —  Young Mother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10528" y="199339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"Help! Can you tell me if I'm out?"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620256" y="2761488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9712" y="27066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19872" y="2706624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PSEG immediately. Kids first priority.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0256" y="3419856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9712" y="33649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Reporting: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19872" y="336499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 report — this is her first action.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20256" y="4078224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9712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Restoration: 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19872" y="4023360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is my power coming back?" — checks constantly.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20256" y="4736592"/>
            <a:ext cx="146304" cy="14630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39712" y="4681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Sky: 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19872" y="4681728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restoration confirmation via phone.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92240" y="5486400"/>
            <a:ext cx="5074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56832" y="55412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job: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56832" y="577900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"Reassure me. Tell me when. My kids need me — don't make me wait on hold."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806440" y="3291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Mimir: From Journey to Domain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 didn't come from a schema meeting. It came from mapping what Mike and Maria actually need to 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5669280" cy="2423160"/>
          </a:xfrm>
          <a:prstGeom prst="roundRect">
            <a:avLst>
              <a:gd name="adj" fmla="val 377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81328"/>
            <a:ext cx="5669280" cy="365760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270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Chen  ·  FOB Administrator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38528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Maintain shared playbooks for the dev team. Review and approve AI-proposed changes.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2825496"/>
            <a:ext cx="91440" cy="914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9806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onboarding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044952"/>
            <a:ext cx="91440" cy="914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1752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Playbooks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264408"/>
            <a:ext cx="91440" cy="914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23697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Workflows + Phases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483864"/>
            <a:ext cx="91440" cy="914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45643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Activities with guidance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3703320"/>
            <a:ext cx="91440" cy="914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67588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Artifacts (inputs/outputs)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59936"/>
            <a:ext cx="5669280" cy="2423160"/>
          </a:xfrm>
          <a:prstGeom prst="roundRect">
            <a:avLst>
              <a:gd name="adj" fmla="val 3774"/>
            </a:avLst>
          </a:prstGeom>
          <a:solidFill>
            <a:srgbClr val="FEF0F0"/>
          </a:solidFill>
          <a:ln w="12700">
            <a:solidFill>
              <a:srgbClr val="FE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59936"/>
            <a:ext cx="5669280" cy="365760"/>
          </a:xfrm>
          <a:prstGeom prst="roundRect">
            <a:avLst>
              <a:gd name="adj" fmla="val 25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1056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Rodriguez  ·  UX Consultant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517136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Organize personal workflows, collaborate on methodologies, leverage community playbooks.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51389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" y="5404104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37667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onboarding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" y="5623560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59612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download Playbooks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" y="5843016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81558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Workflows for projects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" y="6062472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603504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Activities as reference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" y="6281928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625449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and share playbooks</a:t>
            </a:r>
            <a:endParaRPr lang="en-US" sz="10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463040"/>
            <a:ext cx="5577840" cy="51206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263640" y="658368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 Domain Model — each entity exists because of a specific user job.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Journey to Screen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is a response to a moment in the journey. The mapping makes that explicit and traceable.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840480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9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Element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5968" y="1463040"/>
            <a:ext cx="0" cy="54864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463040"/>
            <a:ext cx="338328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4996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Screen Design Element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01000" y="146304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14996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PSEG / Mimir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20240"/>
            <a:ext cx="73152" cy="658368"/>
          </a:xfrm>
          <a:prstGeom prst="roundRect">
            <a:avLst>
              <a:gd name="adj" fmla="val 1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0299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1920240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F0FA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1920240"/>
            <a:ext cx="73152" cy="658368"/>
          </a:xfrm>
          <a:prstGeom prst="roundRect">
            <a:avLst>
              <a:gd name="adj" fmla="val 1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02996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group / section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01000" y="1920240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9872" y="20299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Cognizance → Account Detail screens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670048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70048"/>
            <a:ext cx="73152" cy="658368"/>
          </a:xfrm>
          <a:prstGeom prst="roundRect">
            <a:avLst>
              <a:gd name="adj" fmla="val 1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77977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Touchpoint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34840" y="2670048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2670048"/>
            <a:ext cx="73152" cy="658368"/>
          </a:xfrm>
          <a:prstGeom prst="roundRect">
            <a:avLst>
              <a:gd name="adj" fmla="val 1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77977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/ navigation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01000" y="2670048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9872" y="277977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PSEG Mobile Site → Notification → App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419856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419856"/>
            <a:ext cx="73152" cy="658368"/>
          </a:xfrm>
          <a:prstGeom prst="roundRect">
            <a:avLst>
              <a:gd name="adj" fmla="val 125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5295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dip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34840" y="3419856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F0FA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3419856"/>
            <a:ext cx="73152" cy="658368"/>
          </a:xfrm>
          <a:prstGeom prst="roundRect">
            <a:avLst>
              <a:gd name="adj" fmla="val 125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52958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/ error state copy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01000" y="3419856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9872" y="352958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this so high?" → Usage explainer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169664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169664"/>
            <a:ext cx="73152" cy="658368"/>
          </a:xfrm>
          <a:prstGeom prst="roundRect">
            <a:avLst>
              <a:gd name="adj" fmla="val 125000"/>
            </a:avLst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2793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434840" y="4169664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4169664"/>
            <a:ext cx="73152" cy="658368"/>
          </a:xfrm>
          <a:prstGeom prst="roundRect">
            <a:avLst>
              <a:gd name="adj" fmla="val 125000"/>
            </a:avLst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427939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/ feedback UI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001000" y="4169664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9872" y="427939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at paying → Success confirmation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919472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919472"/>
            <a:ext cx="73152" cy="658368"/>
          </a:xfrm>
          <a:prstGeom prst="roundRect">
            <a:avLst>
              <a:gd name="adj" fmla="val 1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0292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434840" y="4919472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F0FA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34840" y="4919472"/>
            <a:ext cx="73152" cy="658368"/>
          </a:xfrm>
          <a:prstGeom prst="roundRect">
            <a:avLst>
              <a:gd name="adj" fmla="val 1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50292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CTA / form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001000" y="4919472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19872" y="50292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bill → Pay Now button + bank link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5669280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5669280"/>
            <a:ext cx="73152" cy="658368"/>
          </a:xfrm>
          <a:prstGeom prst="roundRect">
            <a:avLst>
              <a:gd name="adj" fmla="val 1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57790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434840" y="5669280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34840" y="5669280"/>
            <a:ext cx="73152" cy="658368"/>
          </a:xfrm>
          <a:prstGeom prst="roundRect">
            <a:avLst>
              <a:gd name="adj" fmla="val 1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17720" y="57790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design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001000" y="5669280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19872" y="57790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app" → Native mobile app feature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" y="6446520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Traceability: JTBD → Persona → Empathy Map → Journey → Screen Flow → Template → Tests.  If you can't trace a screen back to a job, it's a feature, not a solution.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Mimir Screen Flow: The CRUDLF Pattern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entity (Playbook, Workflow, Activity...) gets a standard screen group, derived from the journey.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11247120" cy="566928"/>
          </a:xfrm>
          <a:prstGeom prst="roundRect">
            <a:avLst>
              <a:gd name="adj" fmla="val 16129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8132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Maria's journey moment: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48132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manage my playbooks — find them, create new ones, view details, edit, and clean up old ones."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touchpoint  →  Screen group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21488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" y="2569464"/>
            <a:ext cx="2221992" cy="1536192"/>
          </a:xfrm>
          <a:prstGeom prst="roundRect">
            <a:avLst>
              <a:gd name="adj" fmla="val 7143"/>
            </a:avLst>
          </a:prstGeom>
          <a:ln w="381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7004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LIST+FIND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border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FOB-PLAYBOOKS-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LIST+FIND-1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3337560"/>
            <a:ext cx="18288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  <a:tailEnd type="open"/>
          </a:ln>
        </p:spPr>
      </p:sp>
      <p:sp>
        <p:nvSpPr>
          <p:cNvPr id="16" name="Shape 14"/>
          <p:cNvSpPr/>
          <p:nvPr/>
        </p:nvSpPr>
        <p:spPr>
          <a:xfrm>
            <a:off x="2798064" y="2606040"/>
            <a:ext cx="2148840" cy="1463040"/>
          </a:xfrm>
          <a:prstGeom prst="roundRect">
            <a:avLst>
              <a:gd name="adj" fmla="val 6250"/>
            </a:avLst>
          </a:prstGeom>
          <a:solidFill>
            <a:srgbClr val="EEF2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9504" y="267004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89504" y="34290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List → form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98064" y="41330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FOB-PLAYBOOKS-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46904" y="3337560"/>
            <a:ext cx="18288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  <a:tailEnd type="open"/>
          </a:ln>
        </p:spPr>
      </p:sp>
      <p:sp>
        <p:nvSpPr>
          <p:cNvPr id="21" name="Shape 19"/>
          <p:cNvSpPr/>
          <p:nvPr/>
        </p:nvSpPr>
        <p:spPr>
          <a:xfrm>
            <a:off x="5138928" y="2606040"/>
            <a:ext cx="2148840" cy="1463040"/>
          </a:xfrm>
          <a:prstGeom prst="roundRect">
            <a:avLst>
              <a:gd name="adj" fmla="val 6250"/>
            </a:avLst>
          </a:prstGeom>
          <a:solidFill>
            <a:srgbClr val="EEF2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267004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0368" y="34290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detail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38928" y="41330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FOB-PLAYBOOKS-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87768" y="3337560"/>
            <a:ext cx="18288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  <a:tailEnd type="open"/>
          </a:ln>
        </p:spPr>
      </p:sp>
      <p:sp>
        <p:nvSpPr>
          <p:cNvPr id="26" name="Shape 24"/>
          <p:cNvSpPr/>
          <p:nvPr/>
        </p:nvSpPr>
        <p:spPr>
          <a:xfrm>
            <a:off x="7479792" y="2606040"/>
            <a:ext cx="2148840" cy="1463040"/>
          </a:xfrm>
          <a:prstGeom prst="roundRect">
            <a:avLst>
              <a:gd name="adj" fmla="val 6250"/>
            </a:avLst>
          </a:prstGeom>
          <a:solidFill>
            <a:srgbClr val="EEF2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267004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71232" y="34290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View only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79792" y="41330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FOB-PLAYBOOKS-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EDIT-1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628632" y="3337560"/>
            <a:ext cx="18288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  <a:tailEnd type="open"/>
          </a:ln>
        </p:spPr>
      </p:sp>
      <p:sp>
        <p:nvSpPr>
          <p:cNvPr id="31" name="Shape 29"/>
          <p:cNvSpPr/>
          <p:nvPr/>
        </p:nvSpPr>
        <p:spPr>
          <a:xfrm>
            <a:off x="9820656" y="2606040"/>
            <a:ext cx="2148840" cy="1463040"/>
          </a:xfrm>
          <a:prstGeom prst="roundRect">
            <a:avLst>
              <a:gd name="adj" fmla="val 6250"/>
            </a:avLst>
          </a:prstGeom>
          <a:solidFill>
            <a:srgbClr val="EEF2F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12096" y="267004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912096" y="34290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confirm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820656" y="41330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FOB-PLAYBOOKS-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DELETE-1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95604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LIST+FIND is the universal entry point — users always arrive here from the navigation, never from another screen directly.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3949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4681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chain for FOB-PLAYBOOKS-LIST+FIND-1: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57790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docs/features/user_journey.md  →  ### Screen: FOB-PLAYBOOKS-LIST+FIND-1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6016752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docs/ux/2_dialogue-maps/screen-flow.drawio  →  bold-border box in ACT 2 swimlane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6254496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docs/features/act-2-playbooks/playbooks-list-find.feature  →  Scenario PB-LIST-01 ... PB-LIST-08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" y="649224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templates/playbooks/list.html  →  &lt;!-- Screen: FOB-PLAYBOOKS-LIST+FIND-1 --&gt;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20116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149840" y="2011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Exercise: Journey Stage to Screen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 |  Small groups of 3  |  Sketch on paper or Miro  |  Share one sketch per group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658368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179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empathy map from Exercise 2: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151790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stage of the surprise-subscription journey and design the minimal screen that handles 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4 questions as you sketch: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5577840" cy="1810512"/>
          </a:xfrm>
          <a:prstGeom prst="roundRect">
            <a:avLst>
              <a:gd name="adj" fmla="val 505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" y="2971800"/>
            <a:ext cx="438912" cy="43891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89864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entry point?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3337560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user arrive from? Navigation? Email link? Push notification? That determines the first thing they see.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2788920"/>
            <a:ext cx="5577840" cy="1810512"/>
          </a:xfrm>
          <a:prstGeom prst="roundRect">
            <a:avLst>
              <a:gd name="adj" fmla="val 505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47104" y="2971800"/>
            <a:ext cx="438912" cy="43891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0920" y="289864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primary action?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60920" y="3337560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CTA. What does success look like at the end of this screen? Design toward that moment.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727448"/>
            <a:ext cx="5577840" cy="1810512"/>
          </a:xfrm>
          <a:prstGeom prst="roundRect">
            <a:avLst>
              <a:gd name="adj" fmla="val 505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" y="4910328"/>
            <a:ext cx="438912" cy="43891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" y="4910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8371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emotion curve say?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5276088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user anxious? Relieved? Frustrated? The tone of copy, the urgency of visuals — all driven by the emotional state.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4727448"/>
            <a:ext cx="5577840" cy="1810512"/>
          </a:xfrm>
          <a:prstGeom prst="roundRect">
            <a:avLst>
              <a:gd name="adj" fmla="val 505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47104" y="4910328"/>
            <a:ext cx="438912" cy="43891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4910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60920" y="48371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'arrived' look like?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60920" y="5276088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user know they've completed this stage and can move to the next? Confirmation message? Badge? Next-step prompt?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give your screen an ID.  e.g.  APP-SUBSCRIPTION-MANAGE-1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Traces Back to the Job.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67512" y="173736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" y="1737360"/>
            <a:ext cx="1600200" cy="329184"/>
          </a:xfrm>
          <a:prstGeom prst="roundRect">
            <a:avLst>
              <a:gd name="adj" fmla="val 27778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2139696"/>
            <a:ext cx="1490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Done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2354580"/>
            <a:ext cx="219456" cy="0"/>
          </a:xfrm>
          <a:prstGeom prst="line">
            <a:avLst/>
          </a:prstGeom>
          <a:noFill/>
          <a:ln w="25400">
            <a:solidFill>
              <a:srgbClr val="4466AA"/>
            </a:solidFill>
            <a:prstDash val="solid"/>
            <a:tailEnd type="open"/>
          </a:ln>
        </p:spPr>
      </p:sp>
      <p:sp>
        <p:nvSpPr>
          <p:cNvPr id="7" name="Shape 5"/>
          <p:cNvSpPr/>
          <p:nvPr/>
        </p:nvSpPr>
        <p:spPr>
          <a:xfrm>
            <a:off x="2514600" y="173736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1737360"/>
            <a:ext cx="1600200" cy="329184"/>
          </a:xfrm>
          <a:prstGeom prst="roundRect">
            <a:avLst>
              <a:gd name="adj" fmla="val 27778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9464" y="2139696"/>
            <a:ext cx="1490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33088" y="2354580"/>
            <a:ext cx="219456" cy="0"/>
          </a:xfrm>
          <a:prstGeom prst="line">
            <a:avLst/>
          </a:prstGeom>
          <a:noFill/>
          <a:ln w="25400">
            <a:solidFill>
              <a:srgbClr val="4466AA"/>
            </a:solidFill>
            <a:prstDash val="solid"/>
            <a:tailEnd type="open"/>
          </a:ln>
        </p:spPr>
      </p:sp>
      <p:sp>
        <p:nvSpPr>
          <p:cNvPr id="11" name="Shape 9"/>
          <p:cNvSpPr/>
          <p:nvPr/>
        </p:nvSpPr>
        <p:spPr>
          <a:xfrm>
            <a:off x="4361688" y="173736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1737360"/>
            <a:ext cx="1600200" cy="329184"/>
          </a:xfrm>
          <a:prstGeom prst="roundRect">
            <a:avLst>
              <a:gd name="adj" fmla="val 2777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139696"/>
            <a:ext cx="1490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0176" y="2354580"/>
            <a:ext cx="219456" cy="0"/>
          </a:xfrm>
          <a:prstGeom prst="line">
            <a:avLst/>
          </a:prstGeom>
          <a:noFill/>
          <a:ln w="25400">
            <a:solidFill>
              <a:srgbClr val="4466AA"/>
            </a:solidFill>
            <a:prstDash val="solid"/>
            <a:tailEnd type="open"/>
          </a:ln>
        </p:spPr>
      </p:sp>
      <p:sp>
        <p:nvSpPr>
          <p:cNvPr id="15" name="Shape 13"/>
          <p:cNvSpPr/>
          <p:nvPr/>
        </p:nvSpPr>
        <p:spPr>
          <a:xfrm>
            <a:off x="6208776" y="173736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1737360"/>
            <a:ext cx="1600200" cy="329184"/>
          </a:xfrm>
          <a:prstGeom prst="roundRect">
            <a:avLst>
              <a:gd name="adj" fmla="val 27778"/>
            </a:avLst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139696"/>
            <a:ext cx="1490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27264" y="2354580"/>
            <a:ext cx="219456" cy="0"/>
          </a:xfrm>
          <a:prstGeom prst="line">
            <a:avLst/>
          </a:prstGeom>
          <a:noFill/>
          <a:ln w="25400">
            <a:solidFill>
              <a:srgbClr val="4466AA"/>
            </a:solidFill>
            <a:prstDash val="solid"/>
            <a:tailEnd type="open"/>
          </a:ln>
        </p:spPr>
      </p:sp>
      <p:sp>
        <p:nvSpPr>
          <p:cNvPr id="19" name="Shape 17"/>
          <p:cNvSpPr/>
          <p:nvPr/>
        </p:nvSpPr>
        <p:spPr>
          <a:xfrm>
            <a:off x="8055864" y="173736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5864" y="1737360"/>
            <a:ext cx="1600200" cy="329184"/>
          </a:xfrm>
          <a:prstGeom prst="roundRect">
            <a:avLst>
              <a:gd name="adj" fmla="val 2777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0728" y="2139696"/>
            <a:ext cx="1490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74352" y="2354580"/>
            <a:ext cx="219456" cy="0"/>
          </a:xfrm>
          <a:prstGeom prst="line">
            <a:avLst/>
          </a:prstGeom>
          <a:noFill/>
          <a:ln w="25400">
            <a:solidFill>
              <a:srgbClr val="4466AA"/>
            </a:solidFill>
            <a:prstDash val="solid"/>
            <a:tailEnd type="open"/>
          </a:ln>
        </p:spPr>
      </p:sp>
      <p:sp>
        <p:nvSpPr>
          <p:cNvPr id="23" name="Shape 21"/>
          <p:cNvSpPr/>
          <p:nvPr/>
        </p:nvSpPr>
        <p:spPr>
          <a:xfrm>
            <a:off x="9902952" y="173736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02952" y="1737360"/>
            <a:ext cx="1600200" cy="329184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57816" y="2139696"/>
            <a:ext cx="14904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" y="31363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&amp; what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hire us for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14600" y="31363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inner world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moment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61688" y="31363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emotional arc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job to done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08776" y="31363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screens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stages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55864" y="31363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Tone, CTAs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curve states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902952" y="31363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 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works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356616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can't trace a design decision back to a job, it's a feature. Features can be removed. Jobs cannot.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4526280"/>
            <a:ext cx="11247120" cy="566928"/>
          </a:xfrm>
          <a:prstGeom prst="roundRect">
            <a:avLst>
              <a:gd name="adj" fmla="val 16129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526280"/>
            <a:ext cx="73152" cy="566928"/>
          </a:xfrm>
          <a:prstGeom prst="roundRect">
            <a:avLst>
              <a:gd name="adj" fmla="val 125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55371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→ Don't skip the struggling moment. That's the signal.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5184648"/>
            <a:ext cx="11247120" cy="566928"/>
          </a:xfrm>
          <a:prstGeom prst="roundRect">
            <a:avLst>
              <a:gd name="adj" fmla="val 16129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184648"/>
            <a:ext cx="73152" cy="566928"/>
          </a:xfrm>
          <a:prstGeom prst="roundRect">
            <a:avLst>
              <a:gd name="adj" fmla="val 1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5212080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→ Journey before screens. Never sketch before you've felt the emotion curve.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5843016"/>
            <a:ext cx="11247120" cy="566928"/>
          </a:xfrm>
          <a:prstGeom prst="roundRect">
            <a:avLst>
              <a:gd name="adj" fmla="val 16129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5843016"/>
            <a:ext cx="73152" cy="566928"/>
          </a:xfrm>
          <a:prstGeom prst="roundRect">
            <a:avLst>
              <a:gd name="adj" fmla="val 125000"/>
            </a:avLst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587044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→ Every screen needs a lineage. If you can't grep it, it's a gap.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to the beginning.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the language to say exactly what's wrong — and what's needed.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389120" cy="1828800"/>
          </a:xfrm>
          <a:prstGeom prst="roundRect">
            <a:avLst>
              <a:gd name="adj" fmla="val 5000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4389120" cy="347472"/>
          </a:xfrm>
          <a:prstGeom prst="roundRect">
            <a:avLst>
              <a:gd name="adj" fmla="val 26316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105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Manager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231136"/>
            <a:ext cx="4169664" cy="237744"/>
          </a:xfrm>
          <a:prstGeom prst="roundRect">
            <a:avLst>
              <a:gd name="adj" fmla="val 3846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542032"/>
            <a:ext cx="4169664" cy="237744"/>
          </a:xfrm>
          <a:prstGeom prst="roundRect">
            <a:avLst>
              <a:gd name="adj" fmla="val 3846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852928"/>
            <a:ext cx="4169664" cy="237744"/>
          </a:xfrm>
          <a:prstGeom prst="roundRect">
            <a:avLst>
              <a:gd name="adj" fmla="val 3846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163824"/>
            <a:ext cx="4169664" cy="237744"/>
          </a:xfrm>
          <a:prstGeom prst="roundRect">
            <a:avLst>
              <a:gd name="adj" fmla="val 3846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1783080"/>
            <a:ext cx="4389120" cy="1828800"/>
          </a:xfrm>
          <a:prstGeom prst="roundRect">
            <a:avLst>
              <a:gd name="adj" fmla="val 5000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1783080"/>
            <a:ext cx="4389120" cy="347472"/>
          </a:xfrm>
          <a:prstGeom prst="roundRect">
            <a:avLst>
              <a:gd name="adj" fmla="val 26316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7568" y="18105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87568" y="2231136"/>
            <a:ext cx="4169664" cy="237744"/>
          </a:xfrm>
          <a:prstGeom prst="roundRect">
            <a:avLst>
              <a:gd name="adj" fmla="val 38462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87568" y="2542032"/>
            <a:ext cx="4169664" cy="237744"/>
          </a:xfrm>
          <a:prstGeom prst="roundRect">
            <a:avLst>
              <a:gd name="adj" fmla="val 38462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87568" y="2852928"/>
            <a:ext cx="4169664" cy="237744"/>
          </a:xfrm>
          <a:prstGeom prst="roundRect">
            <a:avLst>
              <a:gd name="adj" fmla="val 38462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87568" y="3163824"/>
            <a:ext cx="4169664" cy="237744"/>
          </a:xfrm>
          <a:prstGeom prst="roundRect">
            <a:avLst>
              <a:gd name="adj" fmla="val 38462"/>
            </a:avLst>
          </a:prstGeom>
          <a:solidFill>
            <a:srgbClr val="3D4FA3"/>
          </a:solidFill>
          <a:ln w="12700">
            <a:solidFill>
              <a:srgbClr val="3D4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423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376732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fail — in one sentence each: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4389120"/>
            <a:ext cx="292608" cy="29260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5568" y="427939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JTBD: neither screen was derived from asking what job the user is trying to complete.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910328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504748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047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5568" y="4937760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cognitive slot design: task type (deep work vs. admin) and ultradian phase are invisible.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568696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263380"/>
          </a:solidFill>
          <a:ln w="12700">
            <a:solidFill>
              <a:srgbClr val="2633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" y="5705856"/>
            <a:ext cx="292608" cy="292608"/>
          </a:xfrm>
          <a:prstGeom prst="ellipse">
            <a:avLst/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5705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5568" y="5596128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progress signal: the user can't tell if they're making progress on their actual goal.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629107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1B4F2A"/>
          </a:solidFill>
          <a:ln w="12700">
            <a:solidFill>
              <a:srgbClr val="1B4F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6291072"/>
            <a:ext cx="73152" cy="475488"/>
          </a:xfrm>
          <a:prstGeom prst="roundRect">
            <a:avLst>
              <a:gd name="adj" fmla="val 1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6309360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design surfaces the current ultradian phase, matches task to cognitive demand, and signals when it's time to recover.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2026-07-13T08:40:26Z</dcterms:created>
  <dcterms:modified xsi:type="dcterms:W3CDTF">2026-07-13T08:40:26Z</dcterms:modified>
</cp:coreProperties>
</file>